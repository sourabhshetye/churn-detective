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Monthly Churn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This company</c:v>
                  </c:pt>
                  <c:pt idx="1">
                    <c:v>Industry avg</c:v>
                  </c:pt>
                  <c:pt idx="2">
                    <c:v>Top performer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</c:v>
                </c:pt>
                <c:pt idx="1">
                  <c:v>1.5</c:v>
                </c:pt>
                <c:pt idx="2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1A2D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D1A"/>
        </a:solidFill>
        <a:ln>
          <a:noFill/>
        </a:ln>
        <a:effectLst/>
      </c:spPr>
    </c:plotArea>
    <c:plotVisOnly val="1"/>
    <c:dispBlanksAs val="span"/>
  </c:chart>
  <c:spPr>
    <a:solidFill>
      <a:srgbClr val="080D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73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92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 INTELLIGENCE BRIEF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566928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losing customers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preventable rate.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 monthly churn vs a 1.5% industry benchmark — a $2.1M annual gap we can close with targeted, data-driven retention.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926080"/>
            <a:ext cx="2286000" cy="1078992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926080"/>
            <a:ext cx="54864" cy="10789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3054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3721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+0.8pp above benchmark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33472" y="2926080"/>
            <a:ext cx="2286000" cy="1078992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33472" y="2926080"/>
            <a:ext cx="54864" cy="10789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054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$69.84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43200" y="3520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3721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customer (ARPU)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4123944"/>
            <a:ext cx="2286000" cy="1078992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123944"/>
            <a:ext cx="54864" cy="10789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$2.1M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8328" y="4718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" y="49194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excess churn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33472" y="4123944"/>
            <a:ext cx="2286000" cy="1078992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33472" y="4123944"/>
            <a:ext cx="54864" cy="10789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~2,530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43200" y="4718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leaving/yr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0" y="49194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current rate</a:t>
            </a:r>
            <a:endParaRPr lang="en-US" sz="7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577840" y="502920"/>
          <a:ext cx="3383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5577840" y="3108960"/>
            <a:ext cx="3383280" cy="1792224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77840" y="3108960"/>
            <a:ext cx="54864" cy="179222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87568" y="32186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MODEL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687568" y="345643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7,000 customers · 20 features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0.703 · AUC-PR 0.804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TreeSHAP — fully explainable.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87568" y="43159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 box — every prediction is explained.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73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EVIDENCE-BACKED CHURN DRIVERS · SHAP-VALIDATED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customers leave — three root causes, not one.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1A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788920" cy="385876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38587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61288"/>
            <a:ext cx="420624" cy="420624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170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66420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&amp; Tenure Cliff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084832"/>
            <a:ext cx="2587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46.7% — over 2× the rate of annual contracts. The 0–6 month band peaks at 49.4%. They haven't built switching inertia.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749040"/>
            <a:ext cx="2587752" cy="402336"/>
          </a:xfrm>
          <a:prstGeom prst="rect">
            <a:avLst/>
          </a:prstGeom>
          <a:solidFill>
            <a:srgbClr val="2DD4BF">
              <a:alpha val="12000"/>
            </a:srgbClr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MTM 46.7%  ·  1-yr 23.6%  ·  2-yr 22.6%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4297680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Commitment incentives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024128"/>
            <a:ext cx="2788920" cy="385876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24128"/>
            <a:ext cx="54864" cy="38587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161288"/>
            <a:ext cx="420624" cy="420624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77056" y="1170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28416" y="166420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Calls — Cliff at 4+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28416" y="2084832"/>
            <a:ext cx="2587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0–3 sit flat at base rate (~33%). At exactly 4 calls, churn jumps 18pp to 51.4% and stays elevated. This is a step-function — a leading indicator visible before churn.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28416" y="3749040"/>
            <a:ext cx="2587752" cy="402336"/>
          </a:xfrm>
          <a:prstGeom prst="rect">
            <a:avLst/>
          </a:prstGeom>
          <a:solidFill>
            <a:srgbClr val="FBBF24">
              <a:alpha val="1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 calls: ~33%  ·  4+ calls: 51–100%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28416" y="4297680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Proactive outreach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1024128"/>
            <a:ext cx="2788920" cy="385876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024128"/>
            <a:ext cx="54864" cy="38587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161288"/>
            <a:ext cx="420624" cy="420624"/>
          </a:xfrm>
          <a:prstGeom prst="ellipse">
            <a:avLst/>
          </a:prstGeom>
          <a:solidFill>
            <a:srgbClr val="FB7185">
              <a:alpha val="2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21424" y="1170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72784" y="1664208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Fiber + Electronic Check Compound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2784" y="2084832"/>
            <a:ext cx="25877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fiber customers (41.3% churn) paying by electronic check (44.3% churn) on month-to-month contracts reach 59.5% churn — the single highest-risk profile.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72784" y="3749040"/>
            <a:ext cx="2587752" cy="402336"/>
          </a:xfrm>
          <a:prstGeom prst="rect">
            <a:avLst/>
          </a:prstGeom>
          <a:solidFill>
            <a:srgbClr val="FB7185">
              <a:alpha val="12000"/>
            </a:srgbClr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MTM + Fiber + E-check: 59.5%  (n=605)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4297680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Service quality, not price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73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SEGMENTATION · KMEANS CLUSTERING ON CHURNERS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all churners are alike — four distinct personas.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1A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192024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54864" cy="1920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115568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Price-Sensitive Shoppers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27632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7632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71216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$44/mo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71216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048" y="202996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Short-tenure, MTM customers comparing alternatives. Price-elastic — haven't committed yet.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560320"/>
            <a:ext cx="4005072" cy="256032"/>
          </a:xfrm>
          <a:prstGeom prst="rect">
            <a:avLst/>
          </a:prstGeom>
          <a:solidFill>
            <a:srgbClr val="2DD4BF">
              <a:alpha val="12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5603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15–20% off for 1-year contract upgrade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987552"/>
            <a:ext cx="4206240" cy="192024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87552"/>
            <a:ext cx="54864" cy="19202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6088" y="1115568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Frustrated Early Adopters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18888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18888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62472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306056" y="1554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$78/mo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06056" y="1819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18888" y="2029968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customers with repeated service issues. Discount won't help — fix the experience.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18888" y="2560320"/>
            <a:ext cx="4005072" cy="256032"/>
          </a:xfrm>
          <a:prstGeom prst="rect">
            <a:avLst/>
          </a:prstGeom>
          <a:solidFill>
            <a:srgbClr val="FB7185">
              <a:alpha val="12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5603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Proactive support call + free security tier 6 months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035808"/>
            <a:ext cx="4206240" cy="192024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035808"/>
            <a:ext cx="54864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1248" y="316382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Quietly Disengaging Veterans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84048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4048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627632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~562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27632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871216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$95/mo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871216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4078224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Long-tenure, high-value. Low support calls — stopped trying. Highest CLV loss.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4048" y="4608576"/>
            <a:ext cx="4005072" cy="256032"/>
          </a:xfrm>
          <a:prstGeom prst="rect">
            <a:avLst/>
          </a:prstGeom>
          <a:solidFill>
            <a:srgbClr val="FBBF24">
              <a:alpha val="12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6085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Personal account call + exclusive loyalty rate lock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3035808"/>
            <a:ext cx="4206240" cy="192024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035808"/>
            <a:ext cx="54864" cy="1920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76088" y="316382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 Budget Customers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818888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18888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062472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~460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062472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06056" y="36027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$38/mo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306056" y="38679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818888" y="4078224"/>
            <a:ext cx="4005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payments, low spend. Target only if uplift model confirms persuadability.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18888" y="4608576"/>
            <a:ext cx="4005072" cy="256032"/>
          </a:xfrm>
          <a:prstGeom prst="rect">
            <a:avLst/>
          </a:prstGeom>
          <a:solidFill>
            <a:srgbClr val="818CF8">
              <a:alpha val="12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46085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Flexible payment plan or bill credit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73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UPLIFT-MODELLED RETENTION PLAYS · COST-AWARE TARGETING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plays, three personas, measurable return.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1A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960120"/>
            <a:ext cx="2331720" cy="82296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960120"/>
            <a:ext cx="54864" cy="822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0058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UPLIFT MODEL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93408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target Persuadables — not just who will churn, but who will STAY if we act.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6217920" cy="877824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54864" cy="87782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47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Price-Sensitive Shoppers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221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15–20% discount for switching to a 1-year contract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4414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Price-elastic, uncommitted — commitment incentive addresses root cause.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39312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9312" y="2295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325112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~246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25112" y="2295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10912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$312K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2295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696712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96712" y="22951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2862072"/>
            <a:ext cx="6217920" cy="877824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62072"/>
            <a:ext cx="54864" cy="87782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935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😤 Frustrated Early Adopters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Proactive tech support call + free online security 6 months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" y="3429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friction is the driver. Fix the experience — retention follows.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39312" y="29535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~715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9312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325112" y="29535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25112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10912" y="29535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$218K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96712" y="295351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96712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849624"/>
            <a:ext cx="6217920" cy="877824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849624"/>
            <a:ext cx="54864" cy="87782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922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🌙 Quietly Disengaging Veterans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02336" y="4197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Personal senior account call + exclusive loyalty rate lock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416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 — losing one hurts most. Personal recognition reverses disengagement.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39312" y="3941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~562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39312" y="4270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325112" y="3941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~169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25112" y="4270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10912" y="3941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$287K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10912" y="4270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96712" y="3941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321%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96712" y="4270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583680" y="1874520"/>
            <a:ext cx="2331720" cy="2926080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0" y="1874520"/>
            <a:ext cx="54864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93408" y="19659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IMPACT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93408" y="2176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~2,100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693408" y="25237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targeted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93408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~630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693408" y="3182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saves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93408" y="3493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$233K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93408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693408" y="4151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254%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693408" y="4498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ROI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7432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CLV $1,676 · offer cost $15 · 30% retention rate. Validate in first campaign wave.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731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 MEASUREMENT · 60-DAY SCORECARD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we'll know it's working.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1A2D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5943600" cy="74980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7498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33856"/>
            <a:ext cx="822960" cy="201168"/>
          </a:xfrm>
          <a:prstGeom prst="rect">
            <a:avLst/>
          </a:prstGeom>
          <a:solidFill>
            <a:srgbClr val="2DD4BF">
              <a:alpha val="20000"/>
            </a:srgbClr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33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225296" y="1115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Retention rate — contacted vs control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1408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+15pp above control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87952" y="1207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read-out at day 60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5943600" cy="74980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65376"/>
            <a:ext cx="54864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975104"/>
            <a:ext cx="822960" cy="201168"/>
          </a:xfrm>
          <a:prstGeom prst="rect">
            <a:avLst/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975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225296" y="1956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Support call volume reduction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25296" y="22494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−10% among Persuadables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87952" y="2048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dashboard, weekly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706624"/>
            <a:ext cx="5943600" cy="74980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06624"/>
            <a:ext cx="54864" cy="7498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816352"/>
            <a:ext cx="822960" cy="201168"/>
          </a:xfrm>
          <a:prstGeom prst="rect">
            <a:avLst/>
          </a:prstGeom>
          <a:solidFill>
            <a:srgbClr val="FB7185">
              <a:alpha val="20000"/>
            </a:srgbClr>
          </a:solidFill>
          <a:ln w="635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816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225296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Offer redemption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25296" y="30906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20–60% (outside = price is wrong)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87952" y="2889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redemption tracking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5943600" cy="74980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547872"/>
            <a:ext cx="54864" cy="7498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657600"/>
            <a:ext cx="822960" cy="201168"/>
          </a:xfrm>
          <a:prstGeom prst="rect">
            <a:avLst/>
          </a:prstGeom>
          <a:solidFill>
            <a:srgbClr val="818CF8">
              <a:alpha val="2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225296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Model PSI (population stability)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25296" y="3931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0.20 (retrain if exceeded)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37307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data pipeline check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1024128"/>
            <a:ext cx="2560320" cy="3364992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1024128"/>
            <a:ext cx="54864" cy="3364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1115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&amp; RISKS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64808" y="1371600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 uses plan_changes proxy — not a true A/B. Validate in first campaign wave.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64808" y="2066544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assumes 24-month flat retention. Replace with cohort survival data.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64808" y="2761488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retention rate is industry baseline. Refine with real A/B results.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64808" y="3456432"/>
            <a:ext cx="2340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concept drift monthly — retrain if PSI exceeds 0.20.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517136"/>
            <a:ext cx="8641080" cy="475488"/>
          </a:xfrm>
          <a:prstGeom prst="rect">
            <a:avLst/>
          </a:prstGeom>
          <a:solidFill>
            <a:srgbClr val="111E35"/>
          </a:solidFill>
          <a:ln w="9525">
            <a:solidFill>
              <a:srgbClr val="1A2D4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517136"/>
            <a:ext cx="54864" cy="4754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5445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(1) Lock business parameters with finance  ·  (2) Design A/B test for first campaign wave  ·  (3) Set up 60-day measurement dashboard  ·  (4) Brief retention ops team on Persuadable list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Detective — CMO Retention Brief</dc:title>
  <dc:subject>PptxGenJS Presentation</dc:subject>
  <dc:creator>Data Science Team</dc:creator>
  <cp:lastModifiedBy>Data Science Team</cp:lastModifiedBy>
  <cp:revision>1</cp:revision>
  <dcterms:created xsi:type="dcterms:W3CDTF">2026-05-14T08:05:02Z</dcterms:created>
  <dcterms:modified xsi:type="dcterms:W3CDTF">2026-05-14T08:05:02Z</dcterms:modified>
</cp:coreProperties>
</file>